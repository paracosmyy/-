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914400"/>
            <a:ext cx="45720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0" y="1371600"/>
            <a:ext cx="548640" cy="5486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2194560"/>
            <a:ext cx="365760" cy="365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0" y="2743200"/>
            <a:ext cx="274320" cy="2743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1051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ST89C52 SPWM 波形发生器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737360" y="1737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课程设计汇报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1005840" y="2468880"/>
            <a:ext cx="3200400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274320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班级：测控2302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组员：李文昊(23062048)  古正瑞(23062051)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宋铭威(23062052)  刘  东(23062053)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学期：2025-2026-2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4617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设计背景与目标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152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005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ST89C52 单片机为核心，设计一款 1Hz~20Hz 频率可调的 SPWM 波形发生器，将电力电子技术与单片机原理应用于实践。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2496312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554480"/>
            <a:ext cx="54864" cy="283464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设计目标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49808" y="2212848"/>
            <a:ext cx="20939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ST89C52 单片机为核心控制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1Hz~20Hz SPWM 波形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按键调节 + 数码管实时显示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P3.7 口直接输出 SPWM 信号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319272" y="1554480"/>
            <a:ext cx="2496312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319272" y="1554480"/>
            <a:ext cx="54864" cy="283464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17373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959352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技术路线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3520440" y="2212848"/>
            <a:ext cx="20939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SPWM 波形生成原理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实现实时中断驱动架构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硬件电路搭建与调试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系统整体优化与工程实践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089904" y="1554480"/>
            <a:ext cx="2496312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089904" y="1554480"/>
            <a:ext cx="54864" cy="283464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73736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29984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预期成果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291072" y="2212848"/>
            <a:ext cx="20939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稳定输出 1~20Hz SPWM 波形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数码管实时显示频率值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按键步进 + 长按连调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CPU 占用率 &lt; 10%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SPWM 原理概述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2286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05156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051560"/>
            <a:ext cx="54864" cy="3657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基本原理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7240" y="1554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SPWM（正弦脉宽调制）通过对脉冲宽度进行正弦规律调制，使输出波形等效为正弦波。高频载波与正弦调制波比较，生成等幅不等宽的脉冲序列。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2606040"/>
            <a:ext cx="3566160" cy="640080"/>
          </a:xfrm>
          <a:prstGeom prst="rect">
            <a:avLst>
              <a:gd name="adj" fmla="val 7143"/>
            </a:avLst>
          </a:prstGeom>
          <a:solidFill>
            <a:srgbClr val="CAF0F8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duty[i] = round( (sin(2π·i/100) + 1) / 2 × 99 )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3429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1 / (N × T_sample)    N = 100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正半周 (0~49):  50 → 99 → 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负半周 (50~99): 50 → 0 → 50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846320" y="105156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46320" y="1051560"/>
            <a:ext cx="54864" cy="1051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12801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66928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查表法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669280" y="15270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点正弦查找表存储 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占空比范围 0~99 级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846320" y="228600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46320" y="2286000"/>
            <a:ext cx="54864" cy="1051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Shape 22"/>
          <p:cNvSpPr/>
          <p:nvPr/>
        </p:nvSpPr>
        <p:spPr>
          <a:xfrm>
            <a:off x="5029200" y="251460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669280" y="2423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双相中断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0" y="27614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Timer0 Mode1 16 位定时器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相 + HIGH 相交替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46320" y="352044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846320" y="3520440"/>
            <a:ext cx="54864" cy="1051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1" name="Shape 28"/>
          <p:cNvSpPr/>
          <p:nvPr/>
        </p:nvSpPr>
        <p:spPr>
          <a:xfrm>
            <a:off x="5029200" y="374904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2" name="Text 29"/>
          <p:cNvSpPr/>
          <p:nvPr/>
        </p:nvSpPr>
        <p:spPr>
          <a:xfrm>
            <a:off x="502920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5669280" y="3657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频率调节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669280" y="39959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改变采样周期查表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 1~20Hz 频率可调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系统总体架构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3048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0" y="1463040"/>
            <a:ext cx="2743200" cy="2194560"/>
          </a:xfrm>
          <a:prstGeom prst="rect">
            <a:avLst>
              <a:gd name="adj" fmla="val 4167"/>
            </a:avLst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73736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ST89C52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3200400" y="2834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11.0592MHz 主控制器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Timer0 + Timer1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双中断架构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5760" y="15544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65760" y="1554480"/>
            <a:ext cx="54864" cy="1188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SPWM 输出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Timer0 双相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P3.7 PWM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点查表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5760" y="301752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65760" y="3017520"/>
            <a:ext cx="54864" cy="1188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546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01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按键输入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" y="35204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K1/K2 频率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计数消抖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长按连按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35040" y="15544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35040" y="1554480"/>
            <a:ext cx="54864" cy="1188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69164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629400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数码管显示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621792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Timer1 扫描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~2ms/位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共阳 LED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35040" y="3017520"/>
            <a:ext cx="54864" cy="1188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5468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2940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主控制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17920" y="35204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省电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节拍驱动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全局频率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2926080" y="2057400"/>
            <a:ext cx="27432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5" name="Shape 27"/>
          <p:cNvSpPr/>
          <p:nvPr/>
        </p:nvSpPr>
        <p:spPr>
          <a:xfrm>
            <a:off x="2926080" y="3520440"/>
            <a:ext cx="27432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6" name="Shape 28"/>
          <p:cNvSpPr/>
          <p:nvPr/>
        </p:nvSpPr>
        <p:spPr>
          <a:xfrm>
            <a:off x="5943600" y="2057400"/>
            <a:ext cx="914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7" name="Shape 29"/>
          <p:cNvSpPr/>
          <p:nvPr/>
        </p:nvSpPr>
        <p:spPr>
          <a:xfrm>
            <a:off x="5943600" y="3520440"/>
            <a:ext cx="91440" cy="27432"/>
          </a:xfrm>
          <a:prstGeom prst="rect">
            <a:avLst/>
          </a:prstGeom>
          <a:solidFill>
            <a:srgbClr val="00B4D8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硬件设计与引脚分配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3810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单片机引脚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功能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宏定义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连接说明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P1.0~P1.6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七段数码管 a~g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SEG_PORT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段选，低电平点亮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数码管十位位选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DIG_TENS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低电平选中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数码管个位位选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DIG_ONES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低电平选中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按键 (频率-)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KEY_FREQ_DOWN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低电平有效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按键 (频率+)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KEY_FREQ_UP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低电平有效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SPWM 波形输出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SPWM_PIN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接示波器/负载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3703320"/>
            <a:ext cx="19202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13048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38130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ST89C52 @ 11.0592MHz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606040" y="3703320"/>
            <a:ext cx="19202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3813048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063240" y="38130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两位一体共阳 LED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4663440" y="3703320"/>
            <a:ext cx="19202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813048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120640" y="38130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按键 K1 / K2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6720840" y="3703320"/>
            <a:ext cx="19202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81304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78040" y="38130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 输出端口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软件模块架构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4572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91840" y="1097280"/>
            <a:ext cx="2560320" cy="73152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4048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8404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主循环 + 全局频率变量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566160" y="1965960"/>
            <a:ext cx="2011680" cy="41148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4" name="Text 10"/>
          <p:cNvSpPr/>
          <p:nvPr/>
        </p:nvSpPr>
        <p:spPr>
          <a:xfrm>
            <a:off x="3657600" y="1984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config.h  板级配置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58284" y="1828800"/>
            <a:ext cx="27432" cy="1371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Shape 12"/>
          <p:cNvSpPr/>
          <p:nvPr/>
        </p:nvSpPr>
        <p:spPr>
          <a:xfrm>
            <a:off x="1783080" y="2377440"/>
            <a:ext cx="27432" cy="228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Shape 13"/>
          <p:cNvSpPr/>
          <p:nvPr/>
        </p:nvSpPr>
        <p:spPr>
          <a:xfrm>
            <a:off x="4553712" y="2377440"/>
            <a:ext cx="27432" cy="228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Shape 14"/>
          <p:cNvSpPr/>
          <p:nvPr/>
        </p:nvSpPr>
        <p:spPr>
          <a:xfrm>
            <a:off x="7324344" y="2377440"/>
            <a:ext cx="27432" cy="228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Shape 15"/>
          <p:cNvSpPr/>
          <p:nvPr/>
        </p:nvSpPr>
        <p:spPr>
          <a:xfrm>
            <a:off x="1796796" y="2377440"/>
            <a:ext cx="5541264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0" name="Shape 16"/>
          <p:cNvSpPr/>
          <p:nvPr/>
        </p:nvSpPr>
        <p:spPr>
          <a:xfrm>
            <a:off x="548640" y="2606040"/>
            <a:ext cx="2496312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48640" y="2606040"/>
            <a:ext cx="54864" cy="201168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43000" y="2715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spwm.c / spwm.h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143000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 核心模块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731520" y="324612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点正弦查找表 (ROM)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Timer0 Mode1 双相中断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q/r 分解优化 ISR 运算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高优先级 PT0=1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3319272" y="2606040"/>
            <a:ext cx="2496312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319272" y="2606040"/>
            <a:ext cx="54864" cy="201168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274320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3913632" y="2715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display.c / display.h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391363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数码管显示模块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3502152" y="324612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Timer1 Mode2 自动重装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动态扫描每位 ~2ms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十位消隐 (频率&lt;10)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系统节拍 g_tick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089904" y="2606040"/>
            <a:ext cx="2496312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089904" y="2606040"/>
            <a:ext cx="54864" cy="201168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274320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6684264" y="2715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key.c / key.h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6684264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按键输入模块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6272784" y="324612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状态机非阻塞扫描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计数消抖 20ms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长按连按 80ms 间隔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 KeyEvent 枚举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SPWM 核心算法 — 双相中断机制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533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051560"/>
            <a:ext cx="374904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051560"/>
            <a:ext cx="54864" cy="292608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234440"/>
            <a:ext cx="457200" cy="457200"/>
          </a:xfrm>
          <a:prstGeom prst="ellipse">
            <a:avLst/>
          </a:prstGeom>
          <a:solidFill>
            <a:srgbClr val="0077B6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2588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相 (phase=0)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77240" y="1691640"/>
            <a:ext cx="3291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SPWM_PIN = 0（输出低电平）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sine_table[index] 获取 duty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计算低电平持续时间：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ticks = T × (100 - duty) / 100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装载定时器，phase → 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051560"/>
            <a:ext cx="374904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63440" y="1051560"/>
            <a:ext cx="54864" cy="29260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Shape 14"/>
          <p:cNvSpPr/>
          <p:nvPr/>
        </p:nvSpPr>
        <p:spPr>
          <a:xfrm>
            <a:off x="4846320" y="123444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44068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相 (phase=1)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892040" y="1691640"/>
            <a:ext cx="3291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SPWM_PIN = 1（输出高电平）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计算高电平持续时间：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ticks = T × duty / 100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装载定时器，index++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→ 0，推进下一采样点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29768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4D8"/>
                </a:solidFill>
              </a:rPr>
              <a:t>➡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548640" y="4160520"/>
            <a:ext cx="8046720" cy="502920"/>
          </a:xfrm>
          <a:prstGeom prst="rect">
            <a:avLst>
              <a:gd name="adj" fmla="val 9091"/>
            </a:avLst>
          </a:prstGeom>
          <a:solidFill>
            <a:srgbClr val="CAF0F8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 优化：q/r 分解法 — 所有中间运算为 16 位，约 60~75 机器周期完成，避免 8051 昂贵的 32 位乘除法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关键技术参数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6096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4068" y="105156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4068" y="1051560"/>
            <a:ext cx="18288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681228" y="11430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11.0592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81228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1228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晶振频率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1228" y="2240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标准波特率晶振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19756" y="105156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619756" y="1051560"/>
            <a:ext cx="1828800" cy="4572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7" name="Text 14"/>
          <p:cNvSpPr/>
          <p:nvPr/>
        </p:nvSpPr>
        <p:spPr>
          <a:xfrm>
            <a:off x="2756916" y="11430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1.085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756916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756916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机器周期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756916" y="2240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时钟/机器周期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95444" y="105156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695444" y="1051560"/>
            <a:ext cx="18288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4832604" y="11430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832604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32604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正弦采样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32604" y="2240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角度间隔 3.6°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771132" y="105156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771132" y="1051560"/>
            <a:ext cx="18288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6908292" y="11430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6908292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级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908292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分辨率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08292" y="2240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占空比 0~99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4068" y="283464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44068" y="2834640"/>
            <a:ext cx="18288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5" name="Text 32"/>
          <p:cNvSpPr/>
          <p:nvPr/>
        </p:nvSpPr>
        <p:spPr>
          <a:xfrm>
            <a:off x="681228" y="29260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1~20</a:t>
            </a:r>
            <a:endParaRPr lang="en-US" sz="2600" dirty="0"/>
          </a:p>
        </p:txBody>
      </p:sp>
      <p:sp>
        <p:nvSpPr>
          <p:cNvPr id="36" name="Text 33"/>
          <p:cNvSpPr/>
          <p:nvPr/>
        </p:nvSpPr>
        <p:spPr>
          <a:xfrm>
            <a:off x="681228" y="3474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81228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频率范围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81228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按键 1Hz 步进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2619756" y="283464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2619756" y="2834640"/>
            <a:ext cx="1828800" cy="4572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41" name="Text 38"/>
          <p:cNvSpPr/>
          <p:nvPr/>
        </p:nvSpPr>
        <p:spPr>
          <a:xfrm>
            <a:off x="2756916" y="29260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2000</a:t>
            </a:r>
            <a:endParaRPr lang="en-US" sz="2600" dirty="0"/>
          </a:p>
        </p:txBody>
      </p:sp>
      <p:sp>
        <p:nvSpPr>
          <p:cNvPr id="42" name="Text 39"/>
          <p:cNvSpPr/>
          <p:nvPr/>
        </p:nvSpPr>
        <p:spPr>
          <a:xfrm>
            <a:off x="2756916" y="3474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次/秒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2756916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中断频率@10Hz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2756916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100点×2相×10Hz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95444" y="283464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4695444" y="2834640"/>
            <a:ext cx="18288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Text 44"/>
          <p:cNvSpPr/>
          <p:nvPr/>
        </p:nvSpPr>
        <p:spPr>
          <a:xfrm>
            <a:off x="4832604" y="29260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8.7</a:t>
            </a:r>
            <a:endParaRPr lang="en-US" sz="2600" dirty="0"/>
          </a:p>
        </p:txBody>
      </p:sp>
      <p:sp>
        <p:nvSpPr>
          <p:cNvPr id="48" name="Text 45"/>
          <p:cNvSpPr/>
          <p:nvPr/>
        </p:nvSpPr>
        <p:spPr>
          <a:xfrm>
            <a:off x="4832604" y="3474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832604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占用@10Hz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832604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 开销极低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771132" y="2834640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771132" y="2834640"/>
            <a:ext cx="18288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3" name="Text 50"/>
          <p:cNvSpPr/>
          <p:nvPr/>
        </p:nvSpPr>
        <p:spPr>
          <a:xfrm>
            <a:off x="6908292" y="29260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7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</a:t>
            </a:r>
            <a:endParaRPr lang="en-US" sz="2600" dirty="0"/>
          </a:p>
        </p:txBody>
      </p:sp>
      <p:sp>
        <p:nvSpPr>
          <p:cNvPr id="54" name="Text 51"/>
          <p:cNvSpPr/>
          <p:nvPr/>
        </p:nvSpPr>
        <p:spPr>
          <a:xfrm>
            <a:off x="6908292" y="3474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6908292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最小相位钳位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6908292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防止 ISR 执行不完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频率调节与显示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6858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051560"/>
            <a:ext cx="384048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051560"/>
            <a:ext cx="54864" cy="356616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1216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按键扫描 (key.c)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77240" y="1645920"/>
            <a:ext cx="33832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主循环 g_tick 节拍 (~2ms) 调用 Key_Scan()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(P3.3) 频率增加，K2 (P3.2) 频率减少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计数消抖：10 × 2ms ≈ 20ms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频率范围限制 1~20Hz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每次按键步进 1Hz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长按连按：400ms 后触发，80ms 间隔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 KeyEvent 枚举，由主循环处理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051560"/>
            <a:ext cx="384048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54880" y="1051560"/>
            <a:ext cx="54864" cy="356616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49240" y="1216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数码管显示 (display.c)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983480" y="1645920"/>
            <a:ext cx="33832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Timer1 Mode2 中断驱动动态扫描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TH1=0 → 溢出周期 256×1.085μs ≈ 278μs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软件分频 DISP_TIMER_DIV=7 → ~2ms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 自动交替显示十位/个位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切换前先熄灭，消除鬼影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 1~9 十位消隐，10~20 正常显示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 置 g_tick=1 驱动主循环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18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数码管显示模块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5088636"/>
            <a:ext cx="7620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0" y="4617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编码 (HEX)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点亮的段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0xC0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c d e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0xA4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d e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0xB0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c d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c f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 d f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 d e f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c d e f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 c d f 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0" y="1051560"/>
            <a:ext cx="35661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0" y="105156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8"/>
          <p:cNvSpPr/>
          <p:nvPr/>
        </p:nvSpPr>
        <p:spPr>
          <a:xfrm>
            <a:off x="525780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动态扫描流程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1737360"/>
            <a:ext cx="320040" cy="3200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0"/>
          <p:cNvSpPr/>
          <p:nvPr/>
        </p:nvSpPr>
        <p:spPr>
          <a:xfrm>
            <a:off x="525780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71500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熄灭所有位选（消鬼影）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257800" y="2240280"/>
            <a:ext cx="320040" cy="3200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7" name="Text 13"/>
          <p:cNvSpPr/>
          <p:nvPr/>
        </p:nvSpPr>
        <p:spPr>
          <a:xfrm>
            <a:off x="5257800" y="2240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15000" y="2240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输出段选编码到 P1 口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257800" y="2743200"/>
            <a:ext cx="320040" cy="3200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0" name="Text 16"/>
          <p:cNvSpPr/>
          <p:nvPr/>
        </p:nvSpPr>
        <p:spPr>
          <a:xfrm>
            <a:off x="525780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71500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拉低对应位选引脚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257800" y="3246120"/>
            <a:ext cx="320040" cy="3200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3" name="Text 19"/>
          <p:cNvSpPr/>
          <p:nvPr/>
        </p:nvSpPr>
        <p:spPr>
          <a:xfrm>
            <a:off x="525780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715000" y="3246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 ~2ms 显示时间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257800" y="3749040"/>
            <a:ext cx="320040" cy="3200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6" name="Text 22"/>
          <p:cNvSpPr/>
          <p:nvPr/>
        </p:nvSpPr>
        <p:spPr>
          <a:xfrm>
            <a:off x="52578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715000" y="3749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切换到下一位，重复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166360" y="4160520"/>
            <a:ext cx="3291840" cy="228600"/>
          </a:xfrm>
          <a:prstGeom prst="rect">
            <a:avLst>
              <a:gd name="adj" fmla="val 12000"/>
            </a:avLst>
          </a:prstGeom>
          <a:solidFill>
            <a:srgbClr val="CAF0F8"/>
          </a:solidFill>
          <a:ln/>
        </p:spPr>
      </p:sp>
      <p:sp>
        <p:nvSpPr>
          <p:cNvPr id="29" name="Text 25"/>
          <p:cNvSpPr/>
          <p:nvPr/>
        </p:nvSpPr>
        <p:spPr>
          <a:xfrm>
            <a:off x="5257800" y="4160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共阳极：段选低电平点亮，位选低电平选中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实物展示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657600" cy="1554480"/>
          </a:xfrm>
          <a:prstGeom prst="rect">
            <a:avLst/>
          </a:prstGeom>
          <a:solidFill>
            <a:srgbClr val="162A3E"/>
          </a:solidFill>
          <a:ln w="19050">
            <a:solidFill>
              <a:srgbClr val="00B4D8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137160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系统整体实物照片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937760" y="1005840"/>
            <a:ext cx="3657600" cy="1554480"/>
          </a:xfrm>
          <a:prstGeom prst="rect">
            <a:avLst/>
          </a:prstGeom>
          <a:solidFill>
            <a:srgbClr val="162A3E"/>
          </a:solidFill>
          <a:ln w="19050">
            <a:solidFill>
              <a:srgbClr val="00B4D8"/>
            </a:solidFill>
            <a:prstDash val="dash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377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各模块特写照片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2880360"/>
            <a:ext cx="3657600" cy="1554480"/>
          </a:xfrm>
          <a:prstGeom prst="rect">
            <a:avLst/>
          </a:prstGeom>
          <a:solidFill>
            <a:srgbClr val="162A3E"/>
          </a:solidFill>
          <a:ln w="19050">
            <a:solidFill>
              <a:srgbClr val="00B4D8"/>
            </a:solidFill>
            <a:prstDash val="dash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3246120"/>
            <a:ext cx="548640" cy="548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3794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数码管显示 + 示波器波形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937760" y="2880360"/>
            <a:ext cx="3657600" cy="1554480"/>
          </a:xfrm>
          <a:prstGeom prst="rect">
            <a:avLst/>
          </a:prstGeom>
          <a:solidFill>
            <a:srgbClr val="162A3E"/>
          </a:solidFill>
          <a:ln w="19050">
            <a:solidFill>
              <a:srgbClr val="00B4D8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246120"/>
            <a:ext cx="548640" cy="548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937760" y="3794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完整电路原理图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046720" y="4617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496312" cy="1463040"/>
          </a:xfrm>
          <a:prstGeom prst="rect">
            <a:avLst/>
          </a:prstGeom>
          <a:solidFill>
            <a:srgbClr val="162A3E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1704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查表法 + 双相中断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645920"/>
            <a:ext cx="213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 1~20Hz 稳定可调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 波形输出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19272" y="1005840"/>
            <a:ext cx="2496312" cy="1463040"/>
          </a:xfrm>
          <a:prstGeom prst="rect">
            <a:avLst/>
          </a:prstGeom>
          <a:solidFill>
            <a:srgbClr val="162A3E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11887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59352" y="11704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按键调频 + 实时显示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502152" y="1645920"/>
            <a:ext cx="213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人机交互直观便捷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数码管实时反馈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89904" y="1005840"/>
            <a:ext cx="2496312" cy="1463040"/>
          </a:xfrm>
          <a:prstGeom prst="rect">
            <a:avLst/>
          </a:prstGeom>
          <a:solidFill>
            <a:srgbClr val="162A3E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8872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29984" y="11704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模块化软件架构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272784" y="1645920"/>
            <a:ext cx="213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SPWM / Display / Key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独立模块，低耦合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2743200"/>
            <a:ext cx="804672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7180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2971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增加波形切换功能（正弦波、三角波、方波）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扩展 LCD 显示更多参数信息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增加外部滤波电路，改善输出波形质量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扩展频率范围至更高频段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</a:t>
            </a:r>
            <a:endParaRPr lang="en-US" sz="2000" dirty="0"/>
          </a:p>
        </p:txBody>
      </p:sp>
      <p:sp>
        <p:nvSpPr>
          <p:cNvPr id="21" name="Text 15"/>
          <p:cNvSpPr/>
          <p:nvPr/>
        </p:nvSpPr>
        <p:spPr>
          <a:xfrm>
            <a:off x="8046720" y="4617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ST89C52 SPWM 波形发生器课程设计汇报</dc:title>
  <dc:subject>PptxGenJS Presentation</dc:subject>
  <dc:creator>测控2302</dc:creator>
  <cp:lastModifiedBy>测控2302</cp:lastModifiedBy>
  <cp:revision>1</cp:revision>
  <dcterms:created xsi:type="dcterms:W3CDTF">2026-03-28T21:13:41Z</dcterms:created>
  <dcterms:modified xsi:type="dcterms:W3CDTF">2026-03-28T21:13:41Z</dcterms:modified>
</cp:coreProperties>
</file>