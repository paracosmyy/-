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1828800"/>
            <a:ext cx="3657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课程设计汇报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3657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ST89C52 单片机  |  1Hz~20Hz 可调频率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班级：测控2302</a:t>
            </a:r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学期：2025-2026-2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组员：李文昊(23062048)  古正瑞(23062051)  宋铭威(23062052)  刘东(23062053)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2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71600" y="1645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28600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设计背景与目的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86000" y="208483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2402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28600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原理概述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286000" y="267919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8346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总体设计方案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286000" y="327355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34290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硬件电路设计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286000" y="386791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4023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28600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软件程序设计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286000" y="446227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46177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286000" y="4617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关键技术参数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286000" y="505663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7" name="Text 25"/>
          <p:cNvSpPr/>
          <p:nvPr/>
        </p:nvSpPr>
        <p:spPr>
          <a:xfrm>
            <a:off x="1371600" y="5212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286000" y="5212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实物展示与测试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2286000" y="565099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58064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286000" y="5806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286000" y="6245352"/>
            <a:ext cx="7772400" cy="9144"/>
          </a:xfrm>
          <a:prstGeom prst="rect">
            <a:avLst/>
          </a:prstGeom>
          <a:solidFill>
            <a:srgbClr val="DDDDDD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一、设计背景与目的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 &amp; OBJECTIVE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3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设计目标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ST89C52 单片机为核心，设计一款 1Hz~20Hz 频率可调的 SPWM 波形发生器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1554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知识应用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►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电力电子技术 — SPWM 调制原理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24688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►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单片机原理 — 定时器中断 + I/O 控制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926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►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电路设计 — 最小系统 + 驱动电路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3832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►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程序开发 — 查表法 + 模块化编程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" y="3840480"/>
            <a:ext cx="2468880" cy="2194560"/>
          </a:xfrm>
          <a:prstGeom prst="roundRect">
            <a:avLst>
              <a:gd name="adj" fmla="val 4167"/>
            </a:avLst>
          </a:prstGeom>
          <a:solidFill>
            <a:srgbClr val="D9E2F3"/>
          </a:solidFill>
          <a:ln/>
          <a:effectLst>
            <a:outerShdw sx="100000" sy="100000" kx="0" ky="0" algn="bl" rotWithShape="0" blurRad="76200" dist="25400" dir="16200000">
              <a:srgbClr val="999999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188720" y="40233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88720" y="46634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P3.7 输出正弦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脉宽调制波形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0" y="3840480"/>
            <a:ext cx="2468880" cy="2194560"/>
          </a:xfrm>
          <a:prstGeom prst="roundRect">
            <a:avLst>
              <a:gd name="adj" fmla="val 4167"/>
            </a:avLst>
          </a:prstGeom>
          <a:solidFill>
            <a:srgbClr val="D9E2F3"/>
          </a:solidFill>
          <a:ln/>
          <a:effectLst>
            <a:outerShdw sx="100000" sy="100000" kx="0" ky="0" algn="bl" rotWithShape="0" blurRad="76200" dist="25400" dir="16200000">
              <a:srgbClr val="999999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31920" y="40233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1-20Hz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931920" y="46634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按键步进调频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数码管实时显示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3840480"/>
            <a:ext cx="2468880" cy="2194560"/>
          </a:xfrm>
          <a:prstGeom prst="roundRect">
            <a:avLst>
              <a:gd name="adj" fmla="val 4167"/>
            </a:avLst>
          </a:prstGeom>
          <a:solidFill>
            <a:srgbClr val="D9E2F3"/>
          </a:solidFill>
          <a:ln/>
          <a:effectLst>
            <a:outerShdw sx="100000" sy="100000" kx="0" ky="0" algn="bl" rotWithShape="0" blurRad="76200" dist="25400" dir="16200000">
              <a:srgbClr val="999999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75120" y="40233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100点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查表法生成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高质量正弦包络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0" y="3840480"/>
            <a:ext cx="2468880" cy="2194560"/>
          </a:xfrm>
          <a:prstGeom prst="roundRect">
            <a:avLst>
              <a:gd name="adj" fmla="val 4167"/>
            </a:avLst>
          </a:prstGeom>
          <a:solidFill>
            <a:srgbClr val="D9E2F3"/>
          </a:solidFill>
          <a:ln/>
          <a:effectLst>
            <a:outerShdw sx="100000" sy="100000" kx="0" ky="0" algn="bl" rotWithShape="0" blurRad="76200" dist="25400" dir="16200000">
              <a:srgbClr val="999999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418320" y="40233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418320" y="466344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5个独立模块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代码架构清晰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二、SPWM 原理概述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PRINCIPLE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4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SPWM（正弦脉宽调制）通过对脉冲宽度进行正弦规律调制，使输出波形等效为正弦波。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11680" y="228600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201168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31089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查表法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5661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正弦周期离散为 100 点</a:t>
            </a:r>
            <a:endParaRPr lang="en-US" sz="11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每点对应 PWM 占空比 0~99</a:t>
            </a:r>
            <a:endParaRPr lang="en-US" sz="11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存储在 ROM 查找表中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0" y="228600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389120" y="31089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双相中断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35661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Timer0 Mode1 (16位)</a:t>
            </a:r>
            <a:endParaRPr lang="en-US" sz="11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 相 + HIGH 相交替</a:t>
            </a:r>
            <a:endParaRPr lang="en-US" sz="11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定时器重装载控制脉宽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228600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863840" y="31089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频率调节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863840" y="35661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= 1/(N x T_sample)</a:t>
            </a:r>
            <a:endParaRPr lang="en-US" sz="11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修改定时器中断周期</a:t>
            </a:r>
            <a:endParaRPr lang="en-US" sz="11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 1~20Hz 可调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53949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正弦查找表 duty[i] = round((sin(2pi*i/100)+1)/2 * 99)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86000" y="5760720"/>
            <a:ext cx="7616952" cy="457200"/>
          </a:xfrm>
          <a:prstGeom prst="roundRect">
            <a:avLst>
              <a:gd name="adj" fmla="val 10000"/>
            </a:avLst>
          </a:prstGeom>
          <a:solidFill>
            <a:srgbClr val="F0F2F5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576072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[图片占位: SPWM 波形示意图 — 等幅不等宽脉冲序列 + 正弦包络]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三、总体设计方案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5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系统总体架构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0" y="22860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25400" dir="16200000">
              <a:srgbClr val="999999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0" y="24688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ST89C52 主控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30175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Timer0 双相中断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100点正弦查表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5603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D9E2F3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651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按键输入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0175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K1(P3.3) 频率+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K2(P3.2) 频率-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680" y="201168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0" y="21031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输出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69680" y="2468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P3.7 波形输出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69680" y="338328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F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886968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数码管显示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0" y="3840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段选 + P2 位选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实时显示频率 01~20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955280" y="21031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14400" y="4754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软件模块架构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14400" y="5212080"/>
            <a:ext cx="1920240" cy="822960"/>
          </a:xfrm>
          <a:prstGeom prst="roundRect">
            <a:avLst>
              <a:gd name="adj" fmla="val 5556"/>
            </a:avLst>
          </a:prstGeom>
          <a:solidFill>
            <a:srgbClr val="D9E2F3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2303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" y="5577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主程序入口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017520" y="5212080"/>
            <a:ext cx="1920240" cy="822960"/>
          </a:xfrm>
          <a:prstGeom prst="roundRect">
            <a:avLst>
              <a:gd name="adj" fmla="val 5556"/>
            </a:avLst>
          </a:prstGeom>
          <a:solidFill>
            <a:srgbClr val="D9E2F3"/>
          </a:solidFill>
          <a:ln/>
        </p:spPr>
      </p:sp>
      <p:sp>
        <p:nvSpPr>
          <p:cNvPr id="30" name="Text 28"/>
          <p:cNvSpPr/>
          <p:nvPr/>
        </p:nvSpPr>
        <p:spPr>
          <a:xfrm>
            <a:off x="3017520" y="52303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5577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SPWM核心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20640" y="5212080"/>
            <a:ext cx="1920240" cy="822960"/>
          </a:xfrm>
          <a:prstGeom prst="roundRect">
            <a:avLst>
              <a:gd name="adj" fmla="val 5556"/>
            </a:avLst>
          </a:prstGeom>
          <a:solidFill>
            <a:srgbClr val="D9E2F3"/>
          </a:solidFill>
          <a:ln/>
        </p:spPr>
      </p:sp>
      <p:sp>
        <p:nvSpPr>
          <p:cNvPr id="33" name="Text 31"/>
          <p:cNvSpPr/>
          <p:nvPr/>
        </p:nvSpPr>
        <p:spPr>
          <a:xfrm>
            <a:off x="5120640" y="52303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display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20640" y="5577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数码管显示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223760" y="5212080"/>
            <a:ext cx="1920240" cy="822960"/>
          </a:xfrm>
          <a:prstGeom prst="roundRect">
            <a:avLst>
              <a:gd name="adj" fmla="val 5556"/>
            </a:avLst>
          </a:prstGeom>
          <a:solidFill>
            <a:srgbClr val="D9E2F3"/>
          </a:solidFill>
          <a:ln/>
        </p:spPr>
      </p:sp>
      <p:sp>
        <p:nvSpPr>
          <p:cNvPr id="36" name="Text 34"/>
          <p:cNvSpPr/>
          <p:nvPr/>
        </p:nvSpPr>
        <p:spPr>
          <a:xfrm>
            <a:off x="7223760" y="52303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223760" y="5577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按键扫描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326880" y="5212080"/>
            <a:ext cx="1920240" cy="822960"/>
          </a:xfrm>
          <a:prstGeom prst="roundRect">
            <a:avLst>
              <a:gd name="adj" fmla="val 5556"/>
            </a:avLst>
          </a:prstGeom>
          <a:solidFill>
            <a:srgbClr val="D9E2F3"/>
          </a:solidFill>
          <a:ln/>
        </p:spPr>
      </p:sp>
      <p:sp>
        <p:nvSpPr>
          <p:cNvPr id="39" name="Text 37"/>
          <p:cNvSpPr/>
          <p:nvPr/>
        </p:nvSpPr>
        <p:spPr>
          <a:xfrm>
            <a:off x="9326880" y="52303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delay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326880" y="5577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延时工具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引脚分配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 ASSIGNMENT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6 / 12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554480"/>
          <a:ext cx="103601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743200"/>
                <a:gridCol w="286207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单片机引脚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宏定义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P1.0~P1.6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七段数码管 a~g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SEG_PORT (P1)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段选，低电平点亮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数码管十位位选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DIG_TENS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低电平选中十位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P2.1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数码管个位位选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DIG_ONES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低电平选中个位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P3.2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K2 按键（频率-）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KEY_FREQ_DOWN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按键接地，低电平有效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K1 按键（频率+）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KEY_FREQ_UP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按键接地，低电平有效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P3.7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SPWM 波形输出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SPWM_PIN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接负载或示波器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1371600" y="4572000"/>
            <a:ext cx="9445752" cy="1371600"/>
          </a:xfrm>
          <a:prstGeom prst="roundRect">
            <a:avLst>
              <a:gd name="adj" fmla="val 6667"/>
            </a:avLst>
          </a:prstGeom>
          <a:solidFill>
            <a:srgbClr val="F0F2F5"/>
          </a:solidFill>
          <a:ln/>
        </p:spPr>
      </p:sp>
      <p:sp>
        <p:nvSpPr>
          <p:cNvPr id="11" name="Text 8"/>
          <p:cNvSpPr/>
          <p:nvPr/>
        </p:nvSpPr>
        <p:spPr>
          <a:xfrm>
            <a:off x="1371600" y="4572000"/>
            <a:ext cx="94457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[图片占位: 引脚连接示意图 / Proteus 仿真截图]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四、硬件电路设计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HARDWARE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7 / 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55448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1B3A5C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554480"/>
            <a:ext cx="2468880" cy="457200"/>
          </a:xfrm>
          <a:prstGeom prst="rect">
            <a:avLst>
              <a:gd name="adj" fmla="val 20000"/>
            </a:avLst>
          </a:prstGeom>
          <a:solidFill>
            <a:srgbClr val="1B3A5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572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单片机最小系统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194560"/>
            <a:ext cx="2103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11.0592MHz 晶振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22pF 负载电容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上电复位电路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10uF + 10K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0" y="155448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0" y="1554480"/>
            <a:ext cx="2468880" cy="457200"/>
          </a:xfrm>
          <a:prstGeom prst="rect">
            <a:avLst>
              <a:gd name="adj" fmla="val 20000"/>
            </a:avLst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1572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LED 显示电路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2194560"/>
            <a:ext cx="2103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两位共阳数码管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段选控制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P2.0/P2.1 位选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动态扫描 2ms/位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55448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1554480"/>
            <a:ext cx="2468880" cy="457200"/>
          </a:xfrm>
          <a:prstGeom prst="rect">
            <a:avLst>
              <a:gd name="adj" fmla="val 20000"/>
            </a:avLst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572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输出电路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2194560"/>
            <a:ext cx="2103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P3.7 直接输出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可选三极管驱动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可选光耦隔离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限流电阻保护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0" y="1554480"/>
            <a:ext cx="2468880" cy="320040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0" y="1554480"/>
            <a:ext cx="2468880" cy="457200"/>
          </a:xfrm>
          <a:prstGeom prst="rect">
            <a:avLst>
              <a:gd name="adj" fmla="val 20000"/>
            </a:avLst>
          </a:prstGeom>
          <a:solidFill>
            <a:srgbClr val="E67E22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0" y="1572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按键输入电路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26880" y="2194560"/>
            <a:ext cx="2103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K1(P3.3) 频率+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K2(P3.2) 频率-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按键接地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内部弱上拉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共阳七段码编码表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5303520"/>
          <a:ext cx="1036015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五、软件程序设计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SOFTWARE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8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生成流程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97280" y="2103120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21031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初始化 Timer0 Mode1, 载入 sine_table[100]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2651760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26517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Timer0 中断触发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0" y="2971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97280" y="3200400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32004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phase=0: P3.7=LOW, 装载低电平时间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3280" y="3520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97280" y="3749040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37490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phase=1: P3.7=HIGH, index++, 装载高电平时间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83280" y="4069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97280" y="4297680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23" name="Text 21"/>
          <p:cNvSpPr/>
          <p:nvPr/>
        </p:nvSpPr>
        <p:spPr>
          <a:xfrm>
            <a:off x="1280160" y="4297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 g_frequency 查 sample_ticks 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4617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97280" y="4846320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/>
        </p:spPr>
      </p:sp>
      <p:sp>
        <p:nvSpPr>
          <p:cNvPr id="26" name="Text 24"/>
          <p:cNvSpPr/>
          <p:nvPr/>
        </p:nvSpPr>
        <p:spPr>
          <a:xfrm>
            <a:off x="1280160" y="48463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循环输出 → 正弦包络 SPWM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主循环流程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766560" y="2103120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0" y="21031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Display_Refresh() — 数码管动态扫描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766560" y="2651760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0" y="26517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十位显示 → 延时2ms → 个位显示 → 延时2ms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66560" y="3200400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3200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Key_Scan() — 按键检测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766560" y="3749040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0" y="37490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K1: frequency &lt; 20 → frequency++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766560" y="4297680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37" name="Text 35"/>
          <p:cNvSpPr/>
          <p:nvPr/>
        </p:nvSpPr>
        <p:spPr>
          <a:xfrm>
            <a:off x="6949440" y="4297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K2: frequency &gt; 1 → frequency--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766560" y="4846320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D9E2F3"/>
          </a:solidFill>
          <a:ln/>
        </p:spPr>
      </p:sp>
      <p:sp>
        <p:nvSpPr>
          <p:cNvPr id="39" name="Text 37"/>
          <p:cNvSpPr/>
          <p:nvPr/>
        </p:nvSpPr>
        <p:spPr>
          <a:xfrm>
            <a:off x="6949440" y="48463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消抖 20ms + 等待释放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14400" y="5577840"/>
            <a:ext cx="10360152" cy="640080"/>
          </a:xfrm>
          <a:prstGeom prst="roundRect">
            <a:avLst>
              <a:gd name="adj" fmla="val 7143"/>
            </a:avLst>
          </a:prstGeom>
          <a:solidFill>
            <a:srgbClr val="2D2D2D"/>
          </a:solidFill>
          <a:ln/>
        </p:spPr>
      </p:sp>
      <p:sp>
        <p:nvSpPr>
          <p:cNvPr id="41" name="Text 39"/>
          <p:cNvSpPr/>
          <p:nvPr/>
        </p:nvSpPr>
        <p:spPr>
          <a:xfrm>
            <a:off x="1097280" y="5577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sine_table[100] = {50,53,56,59,...};  |  sample_ticks[20] = {9216,4608,3072,...};  |  ticks = sample_ticks[freq-1] * duty / 100;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六、关键技术参数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PARAMETERS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9 / 12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554480"/>
          <a:ext cx="103601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395935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晶振频率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11.0592 MHz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标准波特率晶振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机器周期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1.085 us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12时钟周期/机器周期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正弦采样点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点/周期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角度间隔 3.6度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PWM 分辨率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级 (0~99)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占空比范围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频率范围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1~20 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 1Hz 步进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中断频率 @10Hz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2000 次/秒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100点 x 2相 x 10Hz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占用 @10Hz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~8.7%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ISR 开销极低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最小相位钳位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 机器周期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防止 ISR 执行不完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各频率性能对比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5212080"/>
          <a:ext cx="50292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采样周期(us)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每级PWM(us)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ISR占用率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10851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2170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20Hz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七、实物展示与测试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DEMONSTRATION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10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电路实物照片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914400" y="21031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[实物照片]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系统整体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572000" y="21031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[实物照片]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数码管显示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1031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229600" y="21031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[实物照片]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按键模块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420624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14400" y="42062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[示波器截图]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420624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572000" y="42062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[示波器截图]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频率对比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0" y="420624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1270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229600" y="420624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[仿真截图]</a:t>
            </a:r>
            <a:endParaRPr lang="en-US" sz="12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Proteus 仿真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" y="0"/>
            <a:ext cx="12051792" cy="12801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八、总结与展望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5105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SPWM 波形发生器课程设计  |  测控2302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11 / 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设计总结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采用查表法 + Timer0 双相中断，成功实现 1~20Hz SPWM 波形输出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468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点正弦采样 + 100 级 PWM 分辨率，波形质量优于传统 36 点方案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71600" y="29260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模块化软件架构（spwm/display/key/delay），代码清晰易维护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33832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宏定义规范化引脚分配，符合嵌入式编码规范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71600" y="3840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占用率低（10Hz 时仅 8.7%），系统运行稳定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480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9377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▶"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 LCD1602 显示更多参数信息（频率、占空比、波形模式）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71600" y="530352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▶"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增加波形模式切换（正弦/三角/锯齿波）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6692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▶"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增加串口通信，PC 端远程控制频率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371600" y="60350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▶"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DAC 输出模拟正弦波，对比 SPWM 效果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0" y="2286000"/>
            <a:ext cx="4873752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3657600" y="3931920"/>
            <a:ext cx="4873752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1148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E2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测控2302  |  李文昊  古正瑞  宋铭威  刘东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SPWM波形发生器课程设计</dc:title>
  <dc:subject>PptxGenJS Presentation</dc:subject>
  <dc:creator>测控2302</dc:creator>
  <cp:lastModifiedBy>测控2302</cp:lastModifiedBy>
  <cp:revision>1</cp:revision>
  <dcterms:created xsi:type="dcterms:W3CDTF">2026-03-28T13:07:27Z</dcterms:created>
  <dcterms:modified xsi:type="dcterms:W3CDTF">2026-03-28T13:07:27Z</dcterms:modified>
</cp:coreProperties>
</file>