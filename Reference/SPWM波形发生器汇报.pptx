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463040"/>
            <a:ext cx="9034272" cy="2743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ST89C52 SPWM 波形发生器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课程设计汇报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2286000" cy="22860"/>
          </a:xfrm>
          <a:prstGeom prst="rect">
            <a:avLst/>
          </a:prstGeom>
          <a:solidFill>
            <a:srgbClr val="26385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566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班级：测控2302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组员：李文昊(23062048)  古正瑞(23062051)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宋铭威(23062052)  刘  东(23062053)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学期：2025-2026-2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设计背景与目的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设计背景与目的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3108960"/>
          </a:xfrm>
          <a:prstGeom prst="rect">
            <a:avLst>
              <a:gd name="adj" fmla="val 2353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84048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31089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ST89C52 单片机为核心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 1Hz ~ 20Hz 频率可调 SPWM 波形发生器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按键步进调节，数码管实时显示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P3.7 直接输出 SPWM 信号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63040"/>
            <a:ext cx="73152" cy="310896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能力培养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21031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 SPWM 波形生成原理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实践定时器中断与查表法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硬件电路搭建与调试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提升系统级设计与工程实践能力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原理概述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SPWM 原理概述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SPWM（正弦脉宽调制）通过对脉冲宽度进行正弦规律调制，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使输出波形等效为正弦波。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2377440"/>
          </a:xfrm>
          <a:prstGeom prst="rect">
            <a:avLst>
              <a:gd name="adj" fmla="val 3077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265176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查表法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100点正弦表存ROM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占空比 0~99 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011680"/>
            <a:ext cx="2651760" cy="2377440"/>
          </a:xfrm>
          <a:prstGeom prst="rect">
            <a:avLst>
              <a:gd name="adj" fmla="val 3077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011680"/>
            <a:ext cx="265176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双相中断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Timer0 Mode1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LOW相 + HIGH相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51760" cy="2377440"/>
          </a:xfrm>
          <a:prstGeom prst="rect">
            <a:avLst>
              <a:gd name="adj" fmla="val 3077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011680"/>
            <a:ext cx="265176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频率调节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28346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采样周期查表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1~20Hz 按键步进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duty[i] = round( (sin(2π·i/100) + 1) / 2 × 99 )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系统总体架构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1463040"/>
            <a:ext cx="2743200" cy="1097280"/>
          </a:xfrm>
          <a:prstGeom prst="rect">
            <a:avLst>
              <a:gd name="adj" fmla="val 5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ST89C52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主控制器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19456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219456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按键输入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K1/K2 频率±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554480"/>
            <a:ext cx="219456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554480"/>
            <a:ext cx="21945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数码管显示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两位共阳 LED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01752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3017520"/>
            <a:ext cx="27432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SPWM 输出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P3.7 PWM 信号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19456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219456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定时器中断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Timer0 双相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017520"/>
            <a:ext cx="219456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3017520"/>
            <a:ext cx="219456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正弦查找表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点 ROM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2011680"/>
            <a:ext cx="5486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011680"/>
            <a:ext cx="5486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2560320"/>
            <a:ext cx="0" cy="45720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3200400"/>
            <a:ext cx="548640" cy="-64008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492240" y="3200400"/>
            <a:ext cx="-548640" cy="-64008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硬件设计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硬件设计与引脚分配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8288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单片机引脚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功能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宏定义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连接说明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P1.0~P1.6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七段数码管 a~g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SEG_PORT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段选，低电平点亮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P2.0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数码管十位位选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DIG_TENS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低电平选中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P2.1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数码管个位位选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DIG_ONES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低电平选中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P3.2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K2 按键 (频率-)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KEY_FREQ_DOWN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低电平有效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P3.3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K1 按键 (频率+)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KEY_FREQ_UP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低电平有效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P3.7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SPWM 波形输出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SPWM_PIN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FD8DC"/>
                          </a:solidFill>
                        </a:rPr>
                        <a:t>接示波器/负载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8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3749040"/>
            <a:ext cx="3657600" cy="1097280"/>
          </a:xfrm>
          <a:prstGeom prst="rect">
            <a:avLst>
              <a:gd name="adj" fmla="val 5000"/>
            </a:avLst>
          </a:prstGeom>
          <a:solidFill>
            <a:srgbClr val="1A2D3D">
              <a:alpha val="40000"/>
            </a:srgbClr>
          </a:solidFill>
          <a:ln w="12700">
            <a:solidFill>
              <a:srgbClr val="00BFA5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029200" y="3749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[引脚连接示意图 / 最小系统原理图]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4114800" cy="1097280"/>
          </a:xfrm>
          <a:prstGeom prst="rect">
            <a:avLst>
              <a:gd name="adj" fmla="val 5000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核心器件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069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ST89C52 @ 11.0592MHz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两位共阳七段 LED 数码管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独立按键 K1 / K2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软件架构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软件模块架构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640080"/>
          </a:xfrm>
          <a:prstGeom prst="rect">
            <a:avLst>
              <a:gd name="adj" fmla="val 857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1371600"/>
            <a:ext cx="274320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44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主程序入口 · 全局调度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2011680" cy="128016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651760"/>
            <a:ext cx="20116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651760"/>
            <a:ext cx="2011680" cy="411480"/>
          </a:xfrm>
          <a:prstGeom prst="rect">
            <a:avLst/>
          </a:prstGeom>
          <a:solidFill>
            <a:srgbClr val="C62828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spwm.c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100点正弦表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Timer0 双相中断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SPWM 生成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651760"/>
            <a:ext cx="2011680" cy="128016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651760"/>
            <a:ext cx="20116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2651760"/>
            <a:ext cx="2011680" cy="41148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display.c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共阳七段码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动态扫描显示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每位 2ms 刷新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2011680" cy="128016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651760"/>
            <a:ext cx="20116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2651760"/>
            <a:ext cx="2011680" cy="411480"/>
          </a:xfrm>
          <a:prstGeom prst="rect">
            <a:avLst/>
          </a:prstGeom>
          <a:solidFill>
            <a:srgbClr val="00897B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key.c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按键扫描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20ms 消抖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 ±1Hz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2651760"/>
            <a:ext cx="2011680" cy="128016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2651760"/>
            <a:ext cx="201168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2651760"/>
            <a:ext cx="2011680" cy="411480"/>
          </a:xfrm>
          <a:prstGeom prst="rect">
            <a:avLst/>
          </a:prstGeom>
          <a:solidFill>
            <a:srgbClr val="E65100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delay.c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毫秒/微秒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软件延时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11.0592MHz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280160" y="2011680"/>
            <a:ext cx="0" cy="64008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474720" y="2011680"/>
            <a:ext cx="0" cy="64008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669280" y="2011680"/>
            <a:ext cx="0" cy="64008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863840" y="2011680"/>
            <a:ext cx="0" cy="64008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核心算法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SPWM 生成 — 双相中断机制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011680"/>
          </a:xfrm>
          <a:prstGeom prst="rect">
            <a:avLst>
              <a:gd name="adj" fmla="val 3636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89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相 (phase=0)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SPWM_PIN = 0 (输出低电平)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读 sine_table[index] → duty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ticks = T × (100 - duty) / 100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装载定时器 → phase =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011680"/>
          </a:xfrm>
          <a:prstGeom prst="rect">
            <a:avLst>
              <a:gd name="adj" fmla="val 3636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89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相 (phase=1)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SPWM_PIN = 1 (输出高电平)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ticks = T × duty / 100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装载定时器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index++ → phase =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188720"/>
          </a:xfrm>
          <a:prstGeom prst="rect">
            <a:avLst>
              <a:gd name="adj" fmla="val 4615"/>
            </a:avLst>
          </a:prstGeom>
          <a:solidFill>
            <a:srgbClr val="1A2D3D">
              <a:alpha val="40000"/>
            </a:srgbClr>
          </a:solidFill>
          <a:ln w="12700">
            <a:solidFill>
              <a:srgbClr val="00BFA5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[SPWM 波形仿真截图 — 示波器 / Keil 仿真]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技术参数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关键技术参数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晶振频率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11.0592 MHz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标准波特率晶振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机器周期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1.085 μs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12 时钟 / 机器周期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正弦采样点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100 点/周期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角度间隔 3.6°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PWM 分辨率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100 级 (0~99)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占空比精度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频率范围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 ~ 20 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按键 1Hz 步进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中断频率 @10Hz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2000 次/秒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100×2×10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CPU 占用 @10Hz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~8.7%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ISR 开销极低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最小相位钳位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80 机器周期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防止 ISR 执行不完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按键调频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频率调节与显示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560320" cy="822960"/>
          </a:xfrm>
          <a:prstGeom prst="rect">
            <a:avLst>
              <a:gd name="adj" fmla="val 6667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560320" cy="45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按键扫描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K1/K2 状态检测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463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822960"/>
          </a:xfrm>
          <a:prstGeom prst="rect">
            <a:avLst>
              <a:gd name="adj" fmla="val 6667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256032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消抖处理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20ms 延时确认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1463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560320" cy="822960"/>
          </a:xfrm>
          <a:prstGeom prst="rect">
            <a:avLst>
              <a:gd name="adj" fmla="val 6667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560320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频率修改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g_frequency ±1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023360" cy="822960"/>
          </a:xfrm>
          <a:prstGeom prst="rect">
            <a:avLst>
              <a:gd name="adj" fmla="val 6667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4023360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数码管动态扫描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十位 → 个位 交替 2ms 刷新，消鬼影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4023360" cy="822960"/>
          </a:xfrm>
          <a:prstGeom prst="rect">
            <a:avLst>
              <a:gd name="adj" fmla="val 6667"/>
            </a:avLst>
          </a:prstGeom>
          <a:solidFill>
            <a:srgbClr val="16223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743200"/>
            <a:ext cx="4023360" cy="45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自动生效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下次中断自动读取新 g_frequency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1005840"/>
          </a:xfrm>
          <a:prstGeom prst="rect">
            <a:avLst>
              <a:gd name="adj" fmla="val 5455"/>
            </a:avLst>
          </a:prstGeom>
          <a:solidFill>
            <a:srgbClr val="1A2D3D">
              <a:alpha val="40000"/>
            </a:srgbClr>
          </a:solidFill>
          <a:ln w="12700">
            <a:solidFill>
              <a:srgbClr val="00BFA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[不同频率下的 SPWM 波形对比 — 1Hz / 5Hz / 10Hz / 20Hz]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显示编码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共阳七段码编码表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数字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编码 (HEX)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点亮的段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0xC0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 b c d e 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0xF9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b 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0xA4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 b d e 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0xB0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 b c d 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b c f 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 c d f 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0x82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 c d e f 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0xF8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 b 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 b c d e f 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0x90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 b c d f 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371600"/>
            <a:ext cx="3200400" cy="2286000"/>
          </a:xfrm>
          <a:prstGeom prst="rect">
            <a:avLst>
              <a:gd name="adj" fmla="val 2400"/>
            </a:avLst>
          </a:prstGeom>
          <a:solidFill>
            <a:srgbClr val="1A2D3D">
              <a:alpha val="40000"/>
            </a:srgbClr>
          </a:solidFill>
          <a:ln w="12700">
            <a:solidFill>
              <a:srgbClr val="00BFA5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[LED 显示电路原理图]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03520" y="3840480"/>
            <a:ext cx="36576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3840480"/>
            <a:ext cx="54864" cy="914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0" name="Text 7"/>
          <p:cNvSpPr/>
          <p:nvPr/>
        </p:nvSpPr>
        <p:spPr>
          <a:xfrm>
            <a:off x="553212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动态扫描流程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321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熄灭 → 段选 → 位选 → 延时 2ms → 交替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>
              <a:gd name="adj" fmla="val 12500"/>
            </a:avLst>
          </a:prstGeom>
          <a:solidFill>
            <a:srgbClr val="00B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实物展示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实物展示与运行效果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554480"/>
          </a:xfrm>
          <a:prstGeom prst="rect">
            <a:avLst>
              <a:gd name="adj" fmla="val 3529"/>
            </a:avLst>
          </a:prstGeom>
          <a:solidFill>
            <a:srgbClr val="1A2D3D">
              <a:alpha val="40000"/>
            </a:srgbClr>
          </a:solidFill>
          <a:ln w="12700">
            <a:solidFill>
              <a:srgbClr val="00BFA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[系统整体实物照片]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554480"/>
          </a:xfrm>
          <a:prstGeom prst="rect">
            <a:avLst>
              <a:gd name="adj" fmla="val 3529"/>
            </a:avLst>
          </a:prstGeom>
          <a:solidFill>
            <a:srgbClr val="1A2D3D">
              <a:alpha val="40000"/>
            </a:srgbClr>
          </a:solidFill>
          <a:ln w="12700">
            <a:solidFill>
              <a:srgbClr val="00BFA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[各模块特写照片]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931920" cy="1554480"/>
          </a:xfrm>
          <a:prstGeom prst="rect">
            <a:avLst>
              <a:gd name="adj" fmla="val 3529"/>
            </a:avLst>
          </a:prstGeom>
          <a:solidFill>
            <a:srgbClr val="1A2D3D">
              <a:alpha val="40000"/>
            </a:srgbClr>
          </a:solidFill>
          <a:ln w="12700">
            <a:solidFill>
              <a:srgbClr val="00BFA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[数码管显示频率 + 示波器波形]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3931920" cy="1554480"/>
          </a:xfrm>
          <a:prstGeom prst="rect">
            <a:avLst>
              <a:gd name="adj" fmla="val 3529"/>
            </a:avLst>
          </a:prstGeom>
          <a:solidFill>
            <a:srgbClr val="1A2D3D">
              <a:alpha val="40000"/>
            </a:srgbClr>
          </a:solidFill>
          <a:ln w="12700">
            <a:solidFill>
              <a:srgbClr val="00BFA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754880" y="32004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[完整电路原理图]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280160"/>
            <a:ext cx="9034272" cy="2743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73152" cy="4572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查表法 + 双相中断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1~20Hz 可调 SPWM 输出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3152" cy="4572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按键调频 + 数码管显示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人机交互简洁直观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73152" cy="4572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模块化软件架构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SPWM / Display / Key / Delay 独立解耦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73152" cy="4572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扩展方向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LCD 显示、多路输出、更高频率范围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ST89C52 SPWM波形发生器</dc:title>
  <dc:subject>PptxGenJS Presentation</dc:subject>
  <dc:creator>测控2302</dc:creator>
  <cp:lastModifiedBy>测控2302</cp:lastModifiedBy>
  <cp:revision>1</cp:revision>
  <dcterms:created xsi:type="dcterms:W3CDTF">2026-03-28T13:56:44Z</dcterms:created>
  <dcterms:modified xsi:type="dcterms:W3CDTF">2026-03-28T13:56:44Z</dcterms:modified>
</cp:coreProperties>
</file>